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  <p:sldMasterId id="2147483673" r:id="rId4"/>
  </p:sldMasterIdLst>
  <p:notesMasterIdLst>
    <p:notesMasterId r:id="rId6"/>
  </p:notesMasterIdLst>
  <p:sldIdLst>
    <p:sldId id="266" r:id="rId5"/>
    <p:sldId id="2334928" r:id="rId7"/>
    <p:sldId id="2335156" r:id="rId16"/>
    <p:sldId id="2335157" r:id="rId17"/>
    <p:sldId id="2335158" r:id="rId18"/>
    <p:sldId id="2335159" r:id="rId19"/>
    <p:sldId id="2335160" r:id="rId20"/>
    <p:sldId id="2335161" r:id="rId21"/>
    <p:sldId id="2335162" r:id="rId22"/>
    <p:sldId id="2335163" r:id="rId23"/>
    <p:sldId id="2335164" r:id="rId24"/>
    <p:sldId id="2335165" r:id="rId25"/>
    <p:sldId id="2335166" r:id="rId26"/>
    <p:sldId id="2335167" r:id="rId27"/>
    <p:sldId id="2335168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884" userDrawn="1">
          <p15:clr>
            <a:srgbClr val="A4A3A4"/>
          </p15:clr>
        </p15:guide>
        <p15:guide id="3" pos="6772" userDrawn="1">
          <p15:clr>
            <a:srgbClr val="A4A3A4"/>
          </p15:clr>
        </p15:guide>
        <p15:guide id="4" orient="horz" pos="1093" userDrawn="1">
          <p15:clr>
            <a:srgbClr val="A4A3A4"/>
          </p15:clr>
        </p15:guide>
        <p15:guide id="5" pos="846" userDrawn="1">
          <p15:clr>
            <a:srgbClr val="A4A3A4"/>
          </p15:clr>
        </p15:guide>
        <p15:guide id="6" pos="10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C0F6-44AF-4A5B-923D-55AA383FE49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C00AD-F31B-4816-AC3F-08B56752DE1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1FBB6-3EE5-4B54-84EC-B89DEB540AA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B1744-686A-4FB4-B0B1-33F3EDD7BA4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8798-1B72-44B2-B4F2-886239BE315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7720-C5D2-4CAE-9FBA-B3CC75BE19D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F8D4-56D9-455C-B819-1CDB1493D7B3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6C931-E041-466F-9A9D-765518C58B6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70A4-1C21-49D3-8684-D8DBA2752DE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A2E01-D2E3-480A-9364-7E9D6D02945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0F5D6-BB08-469A-B13D-6B3C0C99B62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0E6509-8BF1-4A19-ABE8-91CDE0BABA6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98D474-0744-4FB7-A607-FCA8232293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D90085-371C-48F5-AF28-E69898F7FD1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98D474-0744-4FB7-A607-FCA8232293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6899ED-DDF0-434F-B720-C85497F5FC2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98D474-0744-4FB7-A607-FCA8232293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520722-1544-4507-9294-A2A83E6B12A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98D474-0744-4FB7-A607-FCA8232293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2C3CFF-2561-442D-AB3D-7EAADF6378F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98D474-0744-4FB7-A607-FCA8232293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257559-B7A6-4E91-B18D-5A49440EE93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98D474-0744-4FB7-A607-FCA8232293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C97B7C3-6E0B-4192-B077-EF9FB798C5B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98D474-0744-4FB7-A607-FCA8232293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F4F880-749D-4B60-B2C3-5510D43B770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98D474-0744-4FB7-A607-FCA8232293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7B814D-7914-4FE9-B5CC-711A2982881E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98D474-0744-4FB7-A607-FCA8232293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66972E-D3FF-45F0-8BEB-FDC9BB901EE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98D474-0744-4FB7-A607-FCA8232293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C5BEEF-4F90-4C71-A9FB-ED30D45BFCE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98D474-0744-4FB7-A607-FCA8232293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185" y="908050"/>
            <a:ext cx="10128249" cy="8651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31800" y="2133600"/>
            <a:ext cx="10752667" cy="36004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7587095-507F-4F62-8CBE-61B7DA79DEC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DD8679-5F5E-4B7C-802D-C7BC6D9EA85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4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0487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761575-61E6-4CB9-B071-47EEBA04262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7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60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76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437294-3EEA-4D80-B12B-4EA82F38126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76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5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7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7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D9923F-806B-4979-B8BA-C30137DDBD4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7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81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78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78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CE6686-0479-4B40-BE12-92D3F1B6BC1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78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8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78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789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790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79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465372-BE4E-4D1E-BAD6-72C571545B2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79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5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06F8B1-9B00-4D47-A748-1A21F3E96DF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75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750024-B3C1-4FB0-A379-D91F92E01C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79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98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79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80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BBD903-859A-44BF-B489-1EC33F940E4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80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65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04876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104876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577DC0-D925-400A-BB48-9C53DD1FBCB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76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71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77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79DF49-3E8E-4104-902C-24A453E53CC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77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55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75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DDAD19-3689-4D3E-9212-318B6D75151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75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6597352"/>
            <a:ext cx="12192000" cy="2606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665" b="1" i="0" u="none" strike="noStrike" kern="1200" cap="none" spc="0" normalizeH="0" baseline="0" noProof="0">
              <a:ln w="22225">
                <a:solidFill>
                  <a:srgbClr val="ED7D31"/>
                </a:solidFill>
                <a:prstDash val="solid"/>
              </a:ln>
              <a:solidFill>
                <a:srgbClr val="ED7D31">
                  <a:lumMod val="40000"/>
                  <a:lumOff val="60000"/>
                </a:srgbClr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17F27FD-8203-4160-A317-803B91D7A6F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microsoft.com/office/2007/relationships/hdphoto" Target="../media/image3.wdp"/><Relationship Id="rId16" Type="http://schemas.openxmlformats.org/officeDocument/2006/relationships/image" Target="../media/image4.png"/><Relationship Id="rId1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image" Target="../media/image5.jpeg"/><Relationship Id="rId15" Type="http://schemas.openxmlformats.org/officeDocument/2006/relationships/image" Target="../media/image6.png"/><Relationship Id="rId16" Type="http://schemas.openxmlformats.org/officeDocument/2006/relationships/image" Target="../media/image4.png"/><Relationship Id="rId1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84327-9139-4AE1-A95E-E6AABDDBE2E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186373-C8C1-42E1-BDB6-249AD0E5864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98D474-0744-4FB7-A607-FCA8232293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1" y="4938529"/>
            <a:ext cx="2356873" cy="178294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9835125" y="4933291"/>
            <a:ext cx="2356875" cy="1788185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57679" y="4933289"/>
            <a:ext cx="2348247" cy="17881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61477" y="4933287"/>
            <a:ext cx="2366304" cy="1788185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-2370" y="1"/>
            <a:ext cx="4771209" cy="1052835"/>
          </a:xfrm>
          <a:prstGeom prst="rect">
            <a:avLst/>
          </a:prstGeom>
          <a:solidFill>
            <a:srgbClr val="41A2C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7327287" y="1"/>
            <a:ext cx="2403611" cy="1052835"/>
          </a:xfrm>
          <a:prstGeom prst="rect">
            <a:avLst/>
          </a:prstGeom>
          <a:solidFill>
            <a:srgbClr val="41A2C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37594" y="1"/>
            <a:ext cx="2356777" cy="1052835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4902395" y="4933288"/>
            <a:ext cx="2351740" cy="1788185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t="5577" b="3812"/>
          <a:stretch>
            <a:fillRect/>
          </a:stretch>
        </p:blipFill>
        <p:spPr>
          <a:xfrm>
            <a:off x="4880442" y="1"/>
            <a:ext cx="2340149" cy="1052835"/>
          </a:xfrm>
          <a:prstGeom prst="rect">
            <a:avLst/>
          </a:prstGeom>
        </p:spPr>
      </p:pic>
      <p:pic>
        <p:nvPicPr>
          <p:cNvPr id="17" name="图片 16" descr="logo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995254" y="17929"/>
            <a:ext cx="2342453" cy="103616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48739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48740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89A2C9-ECD4-43D7-BDA8-392658C88A5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74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4874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2866" y="65466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168C3-2083-4FEB-A638-0502EE32FC75}" type="slidenum">
              <a:rPr lang="zh-CN" altLang="en-US" smtClean="0"/>
            </a:fld>
            <a:endParaRPr lang="zh-CN" altLang="en-US"/>
          </a:p>
        </p:txBody>
      </p:sp>
      <p:sp>
        <p:nvSpPr>
          <p:cNvPr id="1048743" name="矩形 6"/>
          <p:cNvSpPr/>
          <p:nvPr userDrawn="1"/>
        </p:nvSpPr>
        <p:spPr>
          <a:xfrm>
            <a:off x="-2370" y="0"/>
            <a:ext cx="4771209" cy="1008000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048744" name="矩形 7"/>
          <p:cNvSpPr/>
          <p:nvPr userDrawn="1"/>
        </p:nvSpPr>
        <p:spPr>
          <a:xfrm>
            <a:off x="7374177" y="0"/>
            <a:ext cx="2403611" cy="1008000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pic>
        <p:nvPicPr>
          <p:cNvPr id="2097164" name="图片 14"/>
          <p:cNvPicPr>
            <a:picLocks noChangeAspect="1"/>
          </p:cNvPicPr>
          <p:nvPr userDrawn="1"/>
        </p:nvPicPr>
        <p:blipFill rotWithShape="1">
          <a:blip r:embed="rId14" cstate="print"/>
          <a:srcRect/>
          <a:stretch>
            <a:fillRect/>
          </a:stretch>
        </p:blipFill>
        <p:spPr>
          <a:xfrm>
            <a:off x="9868150" y="0"/>
            <a:ext cx="2307916" cy="1008000"/>
          </a:xfrm>
          <a:prstGeom prst="rect">
            <a:avLst/>
          </a:prstGeom>
        </p:spPr>
      </p:pic>
      <p:pic>
        <p:nvPicPr>
          <p:cNvPr id="2097166" name="图片 19"/>
          <p:cNvPicPr>
            <a:picLocks noChangeAspect="1"/>
          </p:cNvPicPr>
          <p:nvPr userDrawn="1"/>
        </p:nvPicPr>
        <p:blipFill rotWithShape="1">
          <a:blip r:embed="rId15" cstate="print"/>
          <a:srcRect t="5577" b="3812"/>
          <a:stretch>
            <a:fillRect/>
          </a:stretch>
        </p:blipFill>
        <p:spPr>
          <a:xfrm>
            <a:off x="4868719" y="0"/>
            <a:ext cx="2426820" cy="1008000"/>
          </a:xfrm>
          <a:prstGeom prst="rect">
            <a:avLst/>
          </a:prstGeom>
        </p:spPr>
      </p:pic>
      <p:pic>
        <p:nvPicPr>
          <p:cNvPr id="12" name="图片 11" descr="logo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1038573" y="-49754"/>
            <a:ext cx="2342453" cy="103616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-4152" y="1339619"/>
            <a:ext cx="12192000" cy="35005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miter lim="800000"/>
          </a:ln>
        </p:spPr>
        <p:txBody>
          <a:bodyPr anchor="ctr"/>
          <a:lstStyle/>
          <a:p>
            <a:pPr algn="ctr"/>
            <a:r>
              <a:rPr b="1" sz="3500">
                <a:solidFill>
                  <a:srgbClr val="005380"/>
                </a:solidFill>
                <a:latin typeface="Songti SC"/>
              </a:rPr>
              <a:t>三体运动数值验证与八字轨道复现</a:t>
            </a:r>
          </a:p>
          <a:p>
            <a:pPr algn="ctr"/>
          </a:p>
          <a:p>
            <a:pPr algn="ctr"/>
            <a:r>
              <a:rPr b="1" sz="2100">
                <a:solidFill>
                  <a:srgbClr val="005380"/>
                </a:solidFill>
                <a:latin typeface="Songti SC"/>
              </a:rPr>
              <a:t>数值计算课程汇报</a:t>
            </a:r>
          </a:p>
          <a:p>
            <a:pPr algn="ctr"/>
            <a:r>
              <a:rPr b="1" sz="2100">
                <a:solidFill>
                  <a:srgbClr val="005380"/>
                </a:solidFill>
                <a:latin typeface="Songti SC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695400" y="1412776"/>
            <a:ext cx="471487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568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  纲</a:t>
            </a:r>
            <a:r>
              <a: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（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Outlines</a:t>
            </a:r>
            <a:r>
              <a: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）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40418" y="1988840"/>
            <a:ext cx="39729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052838" y="2558971"/>
            <a:ext cx="7697325" cy="33229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500" b="1">
                <a:solidFill>
                  <a:srgbClr val="005380"/>
                </a:solidFill>
                <a:latin typeface="Songti SC"/>
              </a:rPr>
              <a:t>第一部分       模型与数值验证</a:t>
            </a:r>
          </a:p>
          <a:p>
            <a:r>
              <a:rPr sz="2500" b="1">
                <a:solidFill>
                  <a:srgbClr val="005380"/>
                </a:solidFill>
                <a:latin typeface="Songti SC"/>
              </a:rPr>
              <a:t>第二部分       基本任务结果</a:t>
            </a:r>
          </a:p>
          <a:p>
            <a:r>
              <a:rPr sz="2500" b="1">
                <a:solidFill>
                  <a:srgbClr val="005380"/>
                </a:solidFill>
                <a:latin typeface="Songti SC"/>
              </a:rPr>
              <a:t>第三部分       八字轨道复现</a:t>
            </a:r>
          </a:p>
          <a:p>
            <a:r>
              <a:rPr sz="2500" b="1">
                <a:solidFill>
                  <a:srgbClr val="005380"/>
                </a:solidFill>
                <a:latin typeface="Songti SC"/>
              </a:rPr>
              <a:t>第四部分       结论与参考资料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Group 20"/>
          <p:cNvGrpSpPr/>
          <p:nvPr/>
        </p:nvGrpSpPr>
        <p:grpSpPr>
          <a:xfrm>
            <a:off x="243515" y="114808"/>
            <a:ext cx="12358018" cy="519838"/>
            <a:chOff x="200025" y="1166813"/>
            <a:chExt cx="9268519" cy="389878"/>
          </a:xfrm>
        </p:grpSpPr>
        <p:sp>
          <p:nvSpPr>
            <p:cNvPr id="23" name="文本框 1"/>
            <p:cNvSpPr txBox="1">
              <a:spLocks noChangeArrowheads="1"/>
            </p:cNvSpPr>
            <p:nvPr/>
          </p:nvSpPr>
          <p:spPr bwMode="auto">
            <a:xfrm>
              <a:off x="684213" y="1177868"/>
              <a:ext cx="8784331" cy="34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4"/>
            <p:cNvSpPr>
              <a:spLocks noChangeAspect="1"/>
            </p:cNvSpPr>
            <p:nvPr/>
          </p:nvSpPr>
          <p:spPr bwMode="auto">
            <a:xfrm>
              <a:off x="200025" y="1166813"/>
              <a:ext cx="411535" cy="389878"/>
            </a:xfrm>
            <a:prstGeom prst="rect">
              <a:avLst/>
            </a:prstGeom>
            <a:solidFill>
              <a:srgbClr val="FF99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r>
                <a:rPr sz="1800" b="1">
                  <a:solidFill>
                    <a:srgbClr val="FFFFFF"/>
                  </a:solidFill>
                  <a:latin typeface="Songti SC"/>
                </a:rPr>
                <a:t>1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89099" y="133829"/>
            <a:ext cx="1134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r>
              <a:rPr sz="2600" b="1">
                <a:solidFill>
                  <a:srgbClr val="005380"/>
                </a:solidFill>
                <a:latin typeface="Songti SC"/>
              </a:rPr>
              <a:t>研究任务与计算路线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1261872"/>
            <a:ext cx="3246120" cy="1353312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2000" b="0">
                <a:solidFill>
                  <a:srgbClr val="192D3A"/>
                </a:solidFill>
                <a:latin typeface="Songti SC"/>
              </a:rPr>
              <a:t>单体：固定中心力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192D3A"/>
                </a:solidFill>
                <a:latin typeface="Songti SC"/>
              </a:rPr>
              <a:t>解析解验证轨迹类型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53128" y="1261872"/>
            <a:ext cx="3246120" cy="1353312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2000" b="0">
                <a:solidFill>
                  <a:srgbClr val="192D3A"/>
                </a:solidFill>
                <a:latin typeface="Songti SC"/>
              </a:rPr>
              <a:t>二体与三体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192D3A"/>
                </a:solidFill>
                <a:latin typeface="Songti SC"/>
              </a:rPr>
              <a:t>质心、守恒量和微扰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1" y="1261872"/>
            <a:ext cx="3246120" cy="1353312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2000" b="0">
                <a:solidFill>
                  <a:srgbClr val="192D3A"/>
                </a:solidFill>
                <a:latin typeface="Songti SC"/>
              </a:rPr>
              <a:t>Figure-8 附加任务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192D3A"/>
                </a:solidFill>
                <a:latin typeface="Songti SC"/>
              </a:rPr>
              <a:t>周期闭合与对称性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017520"/>
            <a:ext cx="1014984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5380"/>
                </a:solidFill>
                <a:latin typeface="Songti SC"/>
              </a:rPr>
              <a:t>G = 1；基本算例采用 RK4，步长 h = 0.001。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794760"/>
            <a:ext cx="1024128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92D3A"/>
                </a:solidFill>
                <a:latin typeface="Songti SC"/>
              </a:rPr>
              <a:t>独立对照：Python / SciPy DOP853。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92D3A"/>
                </a:solidFill>
                <a:latin typeface="Songti SC"/>
              </a:rPr>
              <a:t>检验维度：解析解、步长收敛、时间反演、守恒量、质心规律。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340096"/>
            <a:ext cx="10561320" cy="658368"/>
          </a:xfrm>
          <a:prstGeom prst="round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005380"/>
                </a:solidFill>
                <a:latin typeface="Songti SC"/>
              </a:rPr>
              <a:t>核心原则：轨迹与独立参考一致，才有资格进一步讨论物理解释。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Group 20"/>
          <p:cNvGrpSpPr/>
          <p:nvPr/>
        </p:nvGrpSpPr>
        <p:grpSpPr>
          <a:xfrm>
            <a:off x="243515" y="114808"/>
            <a:ext cx="12358018" cy="519838"/>
            <a:chOff x="200025" y="1166813"/>
            <a:chExt cx="9268519" cy="389878"/>
          </a:xfrm>
        </p:grpSpPr>
        <p:sp>
          <p:nvSpPr>
            <p:cNvPr id="23" name="文本框 1"/>
            <p:cNvSpPr txBox="1">
              <a:spLocks noChangeArrowheads="1"/>
            </p:cNvSpPr>
            <p:nvPr/>
          </p:nvSpPr>
          <p:spPr bwMode="auto">
            <a:xfrm>
              <a:off x="684213" y="1177868"/>
              <a:ext cx="8784331" cy="34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4"/>
            <p:cNvSpPr>
              <a:spLocks noChangeAspect="1"/>
            </p:cNvSpPr>
            <p:nvPr/>
          </p:nvSpPr>
          <p:spPr bwMode="auto">
            <a:xfrm>
              <a:off x="200025" y="1166813"/>
              <a:ext cx="411535" cy="389878"/>
            </a:xfrm>
            <a:prstGeom prst="rect">
              <a:avLst/>
            </a:prstGeom>
            <a:solidFill>
              <a:srgbClr val="FF99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r>
                <a:rPr sz="1800" b="1">
                  <a:solidFill>
                    <a:srgbClr val="FFFFFF"/>
                  </a:solidFill>
                  <a:latin typeface="Songti SC"/>
                </a:rPr>
                <a:t>1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89099" y="133829"/>
            <a:ext cx="1134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r>
              <a:rPr sz="2600" b="1">
                <a:solidFill>
                  <a:srgbClr val="005380"/>
                </a:solidFill>
                <a:latin typeface="Songti SC"/>
              </a:rPr>
              <a:t>模型、RK4 与验证指标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1280160"/>
            <a:ext cx="10241280" cy="5852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5380"/>
                </a:solidFill>
                <a:latin typeface="Songti SC"/>
              </a:rPr>
              <a:t>ṙᵢ = vᵢ       v̇ᵢ = G Σⱼ≠ᵢ mⱼ (rⱼ − rᵢ) / ‖rⱼ − rᵢ‖³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" y="2084831"/>
            <a:ext cx="5596128" cy="2606040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四阶 Runge–Kutta（伪代码）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1. 计算 k₁、k₂、k₃、k₄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2. z ← z + h(k₁ + 2k₂ + 2k₃ + k₄)/6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3. 保存状态并检查有限值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11112" y="2084831"/>
            <a:ext cx="4645152" cy="2606040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多重验证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• 与解析解或 DOP853 比较完整状态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• h 与 h/2 对照；时间反演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• 检查 E、P、Lz 和质心运动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340096"/>
            <a:ext cx="10561320" cy="658368"/>
          </a:xfrm>
          <a:prstGeom prst="round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005380"/>
                </a:solidFill>
                <a:latin typeface="Songti SC"/>
              </a:rPr>
              <a:t>守恒量误差很小，只能说明积分一致性；不能单独证明轨道正确。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Group 20"/>
          <p:cNvGrpSpPr/>
          <p:nvPr/>
        </p:nvGrpSpPr>
        <p:grpSpPr>
          <a:xfrm>
            <a:off x="243515" y="114808"/>
            <a:ext cx="12358018" cy="519838"/>
            <a:chOff x="200025" y="1166813"/>
            <a:chExt cx="9268519" cy="389878"/>
          </a:xfrm>
        </p:grpSpPr>
        <p:sp>
          <p:nvSpPr>
            <p:cNvPr id="23" name="文本框 1"/>
            <p:cNvSpPr txBox="1">
              <a:spLocks noChangeArrowheads="1"/>
            </p:cNvSpPr>
            <p:nvPr/>
          </p:nvSpPr>
          <p:spPr bwMode="auto">
            <a:xfrm>
              <a:off x="684213" y="1177868"/>
              <a:ext cx="8784331" cy="34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4"/>
            <p:cNvSpPr>
              <a:spLocks noChangeAspect="1"/>
            </p:cNvSpPr>
            <p:nvPr/>
          </p:nvSpPr>
          <p:spPr bwMode="auto">
            <a:xfrm>
              <a:off x="200025" y="1166813"/>
              <a:ext cx="411535" cy="389878"/>
            </a:xfrm>
            <a:prstGeom prst="rect">
              <a:avLst/>
            </a:prstGeom>
            <a:solidFill>
              <a:srgbClr val="FF99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r>
                <a:rPr sz="1800" b="1">
                  <a:solidFill>
                    <a:srgbClr val="FFFFFF"/>
                  </a:solidFill>
                  <a:latin typeface="Songti SC"/>
                </a:rPr>
                <a:t>2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89099" y="133829"/>
            <a:ext cx="1134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r>
              <a:rPr sz="2600" b="1">
                <a:solidFill>
                  <a:srgbClr val="005380"/>
                </a:solidFill>
                <a:latin typeface="Songti SC"/>
              </a:rPr>
              <a:t>单体：给定初值对应抛物线</a:t>
            </a:r>
          </a:p>
        </p:txBody>
      </p:sp>
      <p:pic>
        <p:nvPicPr>
          <p:cNvPr id="32" name="Picture 31" descr="kepler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34440"/>
            <a:ext cx="6309359" cy="420624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360920" y="1572768"/>
            <a:ext cx="3858768" cy="2468880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固定中心质量 M = 1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r₀ = (0, 2)，v₀ = (1, 0)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比机械能 ε = v²/2 − 1/r = 0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轨迹方程：x² = 16 − 8y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343400"/>
            <a:ext cx="3977639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5380"/>
                </a:solidFill>
                <a:latin typeface="Songti SC"/>
              </a:rPr>
              <a:t>与解析完整状态的最大误差：4.14 × 10⁻¹³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340096"/>
            <a:ext cx="10561320" cy="658368"/>
          </a:xfrm>
          <a:prstGeom prst="round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005380"/>
                </a:solidFill>
                <a:latin typeface="Songti SC"/>
              </a:rPr>
              <a:t>图像向外延伸并非数值发散；零能量决定轨道是抛物线。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Group 20"/>
          <p:cNvGrpSpPr/>
          <p:nvPr/>
        </p:nvGrpSpPr>
        <p:grpSpPr>
          <a:xfrm>
            <a:off x="243515" y="114808"/>
            <a:ext cx="12358018" cy="519838"/>
            <a:chOff x="200025" y="1166813"/>
            <a:chExt cx="9268519" cy="389878"/>
          </a:xfrm>
        </p:grpSpPr>
        <p:sp>
          <p:nvSpPr>
            <p:cNvPr id="23" name="文本框 1"/>
            <p:cNvSpPr txBox="1">
              <a:spLocks noChangeArrowheads="1"/>
            </p:cNvSpPr>
            <p:nvPr/>
          </p:nvSpPr>
          <p:spPr bwMode="auto">
            <a:xfrm>
              <a:off x="684213" y="1177868"/>
              <a:ext cx="8784331" cy="34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4"/>
            <p:cNvSpPr>
              <a:spLocks noChangeAspect="1"/>
            </p:cNvSpPr>
            <p:nvPr/>
          </p:nvSpPr>
          <p:spPr bwMode="auto">
            <a:xfrm>
              <a:off x="200025" y="1166813"/>
              <a:ext cx="411535" cy="389878"/>
            </a:xfrm>
            <a:prstGeom prst="rect">
              <a:avLst/>
            </a:prstGeom>
            <a:solidFill>
              <a:srgbClr val="FF99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r>
                <a:rPr sz="1800" b="1">
                  <a:solidFill>
                    <a:srgbClr val="FFFFFF"/>
                  </a:solidFill>
                  <a:latin typeface="Songti SC"/>
                </a:rPr>
                <a:t>2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89099" y="133829"/>
            <a:ext cx="1134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r>
              <a:rPr sz="2600" b="1">
                <a:solidFill>
                  <a:srgbClr val="005380"/>
                </a:solidFill>
                <a:latin typeface="Songti SC"/>
              </a:rPr>
              <a:t>二体：质心漂移与椭圆相对轨道</a:t>
            </a:r>
          </a:p>
        </p:txBody>
      </p:sp>
      <p:pic>
        <p:nvPicPr>
          <p:cNvPr id="32" name="Picture 31" descr="two_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044" y="1225296"/>
            <a:ext cx="5239512" cy="349300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315200" y="1481328"/>
            <a:ext cx="3931920" cy="2880360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700" b="0">
                <a:solidFill>
                  <a:srgbClr val="192D3A"/>
                </a:solidFill>
                <a:latin typeface="Songti SC"/>
              </a:rPr>
              <a:t>m = (0.30, 0.03)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2D3A"/>
                </a:solidFill>
                <a:latin typeface="Songti SC"/>
              </a:rPr>
              <a:t>P₀ = (0.0597, −0.0597)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2D3A"/>
                </a:solidFill>
                <a:latin typeface="Songti SC"/>
              </a:rPr>
              <a:t>内部能量 = −0.00197925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2D3A"/>
                </a:solidFill>
                <a:latin typeface="Songti SC"/>
              </a:rPr>
              <a:t>半长轴 a ≈ 2.27358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2D3A"/>
                </a:solidFill>
                <a:latin typeface="Songti SC"/>
              </a:rPr>
              <a:t>偏心率 e ≈ 0.24404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010912"/>
            <a:ext cx="10360152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5380"/>
                </a:solidFill>
                <a:latin typeface="Songti SC"/>
              </a:rPr>
              <a:t>相对周期约 37.50；计算到 t = 20，尚未走完一周。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Group 20"/>
          <p:cNvGrpSpPr/>
          <p:nvPr/>
        </p:nvGrpSpPr>
        <p:grpSpPr>
          <a:xfrm>
            <a:off x="243515" y="114808"/>
            <a:ext cx="12358018" cy="519838"/>
            <a:chOff x="200025" y="1166813"/>
            <a:chExt cx="9268519" cy="389878"/>
          </a:xfrm>
        </p:grpSpPr>
        <p:sp>
          <p:nvSpPr>
            <p:cNvPr id="23" name="文本框 1"/>
            <p:cNvSpPr txBox="1">
              <a:spLocks noChangeArrowheads="1"/>
            </p:cNvSpPr>
            <p:nvPr/>
          </p:nvSpPr>
          <p:spPr bwMode="auto">
            <a:xfrm>
              <a:off x="684213" y="1177868"/>
              <a:ext cx="8784331" cy="34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4"/>
            <p:cNvSpPr>
              <a:spLocks noChangeAspect="1"/>
            </p:cNvSpPr>
            <p:nvPr/>
          </p:nvSpPr>
          <p:spPr bwMode="auto">
            <a:xfrm>
              <a:off x="200025" y="1166813"/>
              <a:ext cx="411535" cy="389878"/>
            </a:xfrm>
            <a:prstGeom prst="rect">
              <a:avLst/>
            </a:prstGeom>
            <a:solidFill>
              <a:srgbClr val="FF99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r>
                <a:rPr sz="1800" b="1">
                  <a:solidFill>
                    <a:srgbClr val="FFFFFF"/>
                  </a:solidFill>
                  <a:latin typeface="Songti SC"/>
                </a:rPr>
                <a:t>2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89099" y="133829"/>
            <a:ext cx="1134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r>
              <a:rPr sz="2600" b="1">
                <a:solidFill>
                  <a:srgbClr val="005380"/>
                </a:solidFill>
                <a:latin typeface="Songti SC"/>
              </a:rPr>
              <a:t>三体：有限时段内出现明显分离</a:t>
            </a:r>
          </a:p>
        </p:txBody>
      </p:sp>
      <p:pic>
        <p:nvPicPr>
          <p:cNvPr id="32" name="Picture 31" descr="three_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1261872"/>
            <a:ext cx="4965192" cy="3310128"/>
          </a:xfrm>
          <a:prstGeom prst="rect">
            <a:avLst/>
          </a:prstGeom>
        </p:spPr>
      </p:pic>
      <p:pic>
        <p:nvPicPr>
          <p:cNvPr id="33" name="Picture 32" descr="three_dista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677" y="1408176"/>
            <a:ext cx="4732020" cy="31546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14400" y="4901184"/>
            <a:ext cx="1042416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5380"/>
                </a:solidFill>
                <a:latin typeface="Songti SC"/>
              </a:rPr>
              <a:t>t = 30 时三组距离约为 2.58、14.54、15.32。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340096"/>
            <a:ext cx="10561320" cy="658368"/>
          </a:xfrm>
          <a:prstGeom prst="round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005380"/>
                </a:solidFill>
                <a:latin typeface="Songti SC"/>
              </a:rPr>
              <a:t>这支持“观测时段内分离”，尚不能证明永久逃逸或混沌。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Group 20"/>
          <p:cNvGrpSpPr/>
          <p:nvPr/>
        </p:nvGrpSpPr>
        <p:grpSpPr>
          <a:xfrm>
            <a:off x="243515" y="114808"/>
            <a:ext cx="12358018" cy="519838"/>
            <a:chOff x="200025" y="1166813"/>
            <a:chExt cx="9268519" cy="389878"/>
          </a:xfrm>
        </p:grpSpPr>
        <p:sp>
          <p:nvSpPr>
            <p:cNvPr id="23" name="文本框 1"/>
            <p:cNvSpPr txBox="1">
              <a:spLocks noChangeArrowheads="1"/>
            </p:cNvSpPr>
            <p:nvPr/>
          </p:nvSpPr>
          <p:spPr bwMode="auto">
            <a:xfrm>
              <a:off x="684213" y="1177868"/>
              <a:ext cx="8784331" cy="34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4"/>
            <p:cNvSpPr>
              <a:spLocks noChangeAspect="1"/>
            </p:cNvSpPr>
            <p:nvPr/>
          </p:nvSpPr>
          <p:spPr bwMode="auto">
            <a:xfrm>
              <a:off x="200025" y="1166813"/>
              <a:ext cx="411535" cy="389878"/>
            </a:xfrm>
            <a:prstGeom prst="rect">
              <a:avLst/>
            </a:prstGeom>
            <a:solidFill>
              <a:srgbClr val="FF99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r>
                <a:rPr sz="1800" b="1">
                  <a:solidFill>
                    <a:srgbClr val="FFFFFF"/>
                  </a:solidFill>
                  <a:latin typeface="Songti SC"/>
                </a:rPr>
                <a:t>2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89099" y="133829"/>
            <a:ext cx="1134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r>
              <a:rPr sz="2600" b="1">
                <a:solidFill>
                  <a:srgbClr val="005380"/>
                </a:solidFill>
                <a:latin typeface="Songti SC"/>
              </a:rPr>
              <a:t>基本任务：独立对照与步长检验</a:t>
            </a:r>
          </a:p>
        </p:txBody>
      </p:sp>
      <p:pic>
        <p:nvPicPr>
          <p:cNvPr id="32" name="Picture 31" descr="basic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19784"/>
            <a:ext cx="6190488" cy="4126991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086600" y="1499616"/>
            <a:ext cx="4114800" cy="2350008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900" b="0">
                <a:solidFill>
                  <a:srgbClr val="192D3A"/>
                </a:solidFill>
                <a:latin typeface="Songti SC"/>
              </a:rPr>
              <a:t>与 DOP853 最大状态差</a:t>
            </a:r>
          </a:p>
          <a:p>
            <a:pPr>
              <a:spcAft>
                <a:spcPts val="500"/>
              </a:spcAft>
            </a:pPr>
            <a:r>
              <a:rPr sz="1900" b="0">
                <a:solidFill>
                  <a:srgbClr val="192D3A"/>
                </a:solidFill>
                <a:latin typeface="Songti SC"/>
              </a:rPr>
              <a:t>单体  1.51 × 10⁻¹³</a:t>
            </a:r>
          </a:p>
          <a:p>
            <a:pPr>
              <a:spcAft>
                <a:spcPts val="500"/>
              </a:spcAft>
            </a:pPr>
            <a:r>
              <a:rPr sz="1900" b="0">
                <a:solidFill>
                  <a:srgbClr val="192D3A"/>
                </a:solidFill>
                <a:latin typeface="Songti SC"/>
              </a:rPr>
              <a:t>二体  1.57 × 10⁻¹³</a:t>
            </a:r>
          </a:p>
          <a:p>
            <a:pPr>
              <a:spcAft>
                <a:spcPts val="500"/>
              </a:spcAft>
            </a:pPr>
            <a:r>
              <a:rPr sz="1900" b="0">
                <a:solidFill>
                  <a:srgbClr val="192D3A"/>
                </a:solidFill>
                <a:latin typeface="Songti SC"/>
              </a:rPr>
              <a:t>三体  1.47 × 10⁻¹²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41464" y="4105656"/>
            <a:ext cx="3977639" cy="7040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5380"/>
                </a:solidFill>
                <a:latin typeface="Songti SC"/>
              </a:rPr>
              <a:t>时间反演误差：三例均不超过 5.31 × 10⁻¹⁵。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340096"/>
            <a:ext cx="10561320" cy="658368"/>
          </a:xfrm>
          <a:prstGeom prst="round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005380"/>
                </a:solidFill>
                <a:latin typeface="Songti SC"/>
              </a:rPr>
              <a:t>较细步长已接近参考与浮点误差平台，不能要求误差一直按 16 倍下降。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Group 20"/>
          <p:cNvGrpSpPr/>
          <p:nvPr/>
        </p:nvGrpSpPr>
        <p:grpSpPr>
          <a:xfrm>
            <a:off x="243515" y="114808"/>
            <a:ext cx="12358018" cy="519838"/>
            <a:chOff x="200025" y="1166813"/>
            <a:chExt cx="9268519" cy="389878"/>
          </a:xfrm>
        </p:grpSpPr>
        <p:sp>
          <p:nvSpPr>
            <p:cNvPr id="23" name="文本框 1"/>
            <p:cNvSpPr txBox="1">
              <a:spLocks noChangeArrowheads="1"/>
            </p:cNvSpPr>
            <p:nvPr/>
          </p:nvSpPr>
          <p:spPr bwMode="auto">
            <a:xfrm>
              <a:off x="684213" y="1177868"/>
              <a:ext cx="8784331" cy="34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4"/>
            <p:cNvSpPr>
              <a:spLocks noChangeAspect="1"/>
            </p:cNvSpPr>
            <p:nvPr/>
          </p:nvSpPr>
          <p:spPr bwMode="auto">
            <a:xfrm>
              <a:off x="200025" y="1166813"/>
              <a:ext cx="411535" cy="389878"/>
            </a:xfrm>
            <a:prstGeom prst="rect">
              <a:avLst/>
            </a:prstGeom>
            <a:solidFill>
              <a:srgbClr val="FF99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r>
                <a:rPr sz="1800" b="1">
                  <a:solidFill>
                    <a:srgbClr val="FFFFFF"/>
                  </a:solidFill>
                  <a:latin typeface="Songti SC"/>
                </a:rPr>
                <a:t>2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89099" y="133829"/>
            <a:ext cx="1134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r>
              <a:rPr sz="2600" b="1">
                <a:solidFill>
                  <a:srgbClr val="005380"/>
                </a:solidFill>
                <a:latin typeface="Songti SC"/>
              </a:rPr>
              <a:t>微小初值改变：有限时间响应</a:t>
            </a:r>
          </a:p>
        </p:txBody>
      </p:sp>
      <p:pic>
        <p:nvPicPr>
          <p:cNvPr id="32" name="Picture 31" descr="two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04213"/>
            <a:ext cx="5303520" cy="2983229"/>
          </a:xfrm>
          <a:prstGeom prst="rect">
            <a:avLst/>
          </a:prstGeom>
        </p:spPr>
      </p:pic>
      <p:pic>
        <p:nvPicPr>
          <p:cNvPr id="33" name="Picture 32" descr="three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704213"/>
            <a:ext cx="5303520" cy="298322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6968" y="5157216"/>
            <a:ext cx="10387584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5380"/>
                </a:solidFill>
                <a:latin typeface="Songti SC"/>
              </a:rPr>
              <a:t>去除各自质心后：二体末态位置差 2.62×10⁻⁵；三体 3.40×10⁻⁵（速度扰动 10⁻⁶）。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Group 20"/>
          <p:cNvGrpSpPr/>
          <p:nvPr/>
        </p:nvGrpSpPr>
        <p:grpSpPr>
          <a:xfrm>
            <a:off x="243515" y="114808"/>
            <a:ext cx="12358018" cy="519838"/>
            <a:chOff x="200025" y="1166813"/>
            <a:chExt cx="9268519" cy="389878"/>
          </a:xfrm>
        </p:grpSpPr>
        <p:sp>
          <p:nvSpPr>
            <p:cNvPr id="23" name="文本框 1"/>
            <p:cNvSpPr txBox="1">
              <a:spLocks noChangeArrowheads="1"/>
            </p:cNvSpPr>
            <p:nvPr/>
          </p:nvSpPr>
          <p:spPr bwMode="auto">
            <a:xfrm>
              <a:off x="684213" y="1177868"/>
              <a:ext cx="8784331" cy="34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4"/>
            <p:cNvSpPr>
              <a:spLocks noChangeAspect="1"/>
            </p:cNvSpPr>
            <p:nvPr/>
          </p:nvSpPr>
          <p:spPr bwMode="auto">
            <a:xfrm>
              <a:off x="200025" y="1166813"/>
              <a:ext cx="411535" cy="389878"/>
            </a:xfrm>
            <a:prstGeom prst="rect">
              <a:avLst/>
            </a:prstGeom>
            <a:solidFill>
              <a:srgbClr val="FF99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r>
                <a:rPr sz="1800" b="1">
                  <a:solidFill>
                    <a:srgbClr val="FFFFFF"/>
                  </a:solidFill>
                  <a:latin typeface="Songti SC"/>
                </a:rPr>
                <a:t>3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89099" y="133829"/>
            <a:ext cx="1134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r>
              <a:rPr sz="2600" b="1">
                <a:solidFill>
                  <a:srgbClr val="005380"/>
                </a:solidFill>
                <a:latin typeface="Songti SC"/>
              </a:rPr>
              <a:t>Figure-8：文献对应与初值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245352"/>
            <a:ext cx="106070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626D"/>
                </a:solidFill>
                <a:latin typeface="Songti SC"/>
              </a:rPr>
              <a:t>来源：Moore, Phys. Rev. Lett. 70, 3675 (1993)；初值取公开 GeometricProblems.jl 示例。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" y="1234440"/>
            <a:ext cx="10387584" cy="914400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900" b="0">
                <a:solidFill>
                  <a:srgbClr val="192D3A"/>
                </a:solidFill>
                <a:latin typeface="Songti SC"/>
              </a:rPr>
              <a:t>Moore（1993）数值发现八字解；</a:t>
            </a:r>
          </a:p>
          <a:p>
            <a:pPr>
              <a:spcAft>
                <a:spcPts val="500"/>
              </a:spcAft>
            </a:pPr>
            <a:r>
              <a:rPr sz="1900" b="0">
                <a:solidFill>
                  <a:srgbClr val="192D3A"/>
                </a:solidFill>
                <a:latin typeface="Songti SC"/>
              </a:rPr>
              <a:t>Chenciner 与 Montgomery（2000）证明存在性。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313432"/>
            <a:ext cx="10332720" cy="4937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05380"/>
                </a:solidFill>
                <a:latin typeface="Songti SC"/>
              </a:rPr>
              <a:t>G = 1，m₁ = m₂ = m₃ = 1，近似周期 T = 6.32591398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" y="2907792"/>
            <a:ext cx="5010912" cy="1115568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192D3A"/>
                </a:solidFill>
                <a:latin typeface="Songti SC"/>
              </a:rPr>
              <a:t>物体 1：r = (−0.97000436, 0.24308753)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92D3A"/>
                </a:solidFill>
                <a:latin typeface="Songti SC"/>
              </a:rPr>
              <a:t>            v = ( 0.466203685, 0.432365730)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2907792"/>
            <a:ext cx="5010912" cy="1115568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192D3A"/>
                </a:solidFill>
                <a:latin typeface="Songti SC"/>
              </a:rPr>
              <a:t>物体 2：r = (0, 0)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92D3A"/>
                </a:solidFill>
                <a:latin typeface="Songti SC"/>
              </a:rPr>
              <a:t>            v = (−0.932407370, −0.864731460)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" y="4224528"/>
            <a:ext cx="10259568" cy="1060704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192D3A"/>
                </a:solidFill>
                <a:latin typeface="Songti SC"/>
              </a:rPr>
              <a:t>物体 3：r = (0.97000436, −0.24308753)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92D3A"/>
                </a:solidFill>
                <a:latin typeface="Songti SC"/>
              </a:rPr>
              <a:t>            v = (0.466203685, 0.432365730)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Group 20"/>
          <p:cNvGrpSpPr/>
          <p:nvPr/>
        </p:nvGrpSpPr>
        <p:grpSpPr>
          <a:xfrm>
            <a:off x="243515" y="114808"/>
            <a:ext cx="12358018" cy="519838"/>
            <a:chOff x="200025" y="1166813"/>
            <a:chExt cx="9268519" cy="389878"/>
          </a:xfrm>
        </p:grpSpPr>
        <p:sp>
          <p:nvSpPr>
            <p:cNvPr id="23" name="文本框 1"/>
            <p:cNvSpPr txBox="1">
              <a:spLocks noChangeArrowheads="1"/>
            </p:cNvSpPr>
            <p:nvPr/>
          </p:nvSpPr>
          <p:spPr bwMode="auto">
            <a:xfrm>
              <a:off x="684213" y="1177868"/>
              <a:ext cx="8784331" cy="34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4"/>
            <p:cNvSpPr>
              <a:spLocks noChangeAspect="1"/>
            </p:cNvSpPr>
            <p:nvPr/>
          </p:nvSpPr>
          <p:spPr bwMode="auto">
            <a:xfrm>
              <a:off x="200025" y="1166813"/>
              <a:ext cx="411535" cy="389878"/>
            </a:xfrm>
            <a:prstGeom prst="rect">
              <a:avLst/>
            </a:prstGeom>
            <a:solidFill>
              <a:srgbClr val="FF99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r>
                <a:rPr sz="1800" b="1">
                  <a:solidFill>
                    <a:srgbClr val="FFFFFF"/>
                  </a:solidFill>
                  <a:latin typeface="Songti SC"/>
                </a:rPr>
                <a:t>3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89099" y="133829"/>
            <a:ext cx="1134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r>
              <a:rPr sz="2600" b="1">
                <a:solidFill>
                  <a:srgbClr val="005380"/>
                </a:solidFill>
                <a:latin typeface="Songti SC"/>
              </a:rPr>
              <a:t>Figure-8：三体沿同一八字轨道运动</a:t>
            </a:r>
          </a:p>
        </p:txBody>
      </p:sp>
      <p:pic>
        <p:nvPicPr>
          <p:cNvPr id="32" name="Picture 31" descr="figure8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369932"/>
            <a:ext cx="7470648" cy="421871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412480" y="1572768"/>
            <a:ext cx="2834640" cy="2423160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三体等质量、总动量为零。</a:t>
            </a:r>
          </a:p>
          <a:p>
            <a:pPr>
              <a:spcAft>
                <a:spcPts val="500"/>
              </a:spcAft>
            </a:pPr>
            <a:r>
              <a:rPr sz="1800" b="0">
                <a:solidFill>
                  <a:srgbClr val="192D3A"/>
                </a:solidFill>
                <a:latin typeface="Songti SC"/>
              </a:rPr>
              <a:t>单周期轨道重合，并在 T/3 后完成循环置换。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4215384"/>
            <a:ext cx="2834640" cy="1005840"/>
          </a:xfrm>
          <a:prstGeom prst="roundRect">
            <a:avLst/>
          </a:prstGeom>
          <a:solidFill>
            <a:srgbClr val="F7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05380"/>
                </a:solidFill>
                <a:latin typeface="Songti SC"/>
              </a:rPr>
              <a:t>最小两体距离</a:t>
            </a:r>
          </a:p>
          <a:p>
            <a:pPr>
              <a:spcAft>
                <a:spcPts val="500"/>
              </a:spcAft>
            </a:pPr>
            <a:r>
              <a:rPr sz="2000" b="1">
                <a:solidFill>
                  <a:srgbClr val="005380"/>
                </a:solidFill>
                <a:latin typeface="Songti SC"/>
              </a:rPr>
              <a:t>≈ 0.6905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Group 20"/>
          <p:cNvGrpSpPr/>
          <p:nvPr/>
        </p:nvGrpSpPr>
        <p:grpSpPr>
          <a:xfrm>
            <a:off x="243515" y="114808"/>
            <a:ext cx="12358018" cy="519838"/>
            <a:chOff x="200025" y="1166813"/>
            <a:chExt cx="9268519" cy="389878"/>
          </a:xfrm>
        </p:grpSpPr>
        <p:sp>
          <p:nvSpPr>
            <p:cNvPr id="23" name="文本框 1"/>
            <p:cNvSpPr txBox="1">
              <a:spLocks noChangeArrowheads="1"/>
            </p:cNvSpPr>
            <p:nvPr/>
          </p:nvSpPr>
          <p:spPr bwMode="auto">
            <a:xfrm>
              <a:off x="684213" y="1177868"/>
              <a:ext cx="8784331" cy="34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4"/>
            <p:cNvSpPr>
              <a:spLocks noChangeAspect="1"/>
            </p:cNvSpPr>
            <p:nvPr/>
          </p:nvSpPr>
          <p:spPr bwMode="auto">
            <a:xfrm>
              <a:off x="200025" y="1166813"/>
              <a:ext cx="411535" cy="389878"/>
            </a:xfrm>
            <a:prstGeom prst="rect">
              <a:avLst/>
            </a:prstGeom>
            <a:solidFill>
              <a:srgbClr val="FF99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r>
                <a:rPr sz="1800" b="1">
                  <a:solidFill>
                    <a:srgbClr val="FFFFFF"/>
                  </a:solidFill>
                  <a:latin typeface="Songti SC"/>
                </a:rPr>
                <a:t>3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89099" y="133829"/>
            <a:ext cx="1134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r>
              <a:rPr sz="2600" b="1">
                <a:solidFill>
                  <a:srgbClr val="005380"/>
                </a:solidFill>
                <a:latin typeface="Songti SC"/>
              </a:rPr>
              <a:t>Figure-8：闭合残差与长时间检验</a:t>
            </a:r>
          </a:p>
        </p:txBody>
      </p:sp>
      <p:pic>
        <p:nvPicPr>
          <p:cNvPr id="32" name="Picture 31" descr="figure8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851" y="1216152"/>
            <a:ext cx="6158752" cy="418795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415783" y="1517904"/>
            <a:ext cx="3840480" cy="2368296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700" b="0">
                <a:solidFill>
                  <a:srgbClr val="192D3A"/>
                </a:solidFill>
                <a:latin typeface="Songti SC"/>
              </a:rPr>
              <a:t>步长扫描：300 → 9600 步/周期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2D3A"/>
                </a:solidFill>
                <a:latin typeface="Songti SC"/>
              </a:rPr>
              <a:t>参考差：2.61×10⁻⁶ → 1.62×10⁻¹²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2D3A"/>
                </a:solidFill>
                <a:latin typeface="Songti SC"/>
              </a:rPr>
              <a:t>闭合残差趋于 3.90×10⁻⁸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0648" y="4206240"/>
            <a:ext cx="3730752" cy="7406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5380"/>
                </a:solidFill>
                <a:latin typeface="Songti SC"/>
              </a:rPr>
              <a:t>20 周期位置闭合误差约 5.75×10⁻⁷。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340096"/>
            <a:ext cx="10561320" cy="658368"/>
          </a:xfrm>
          <a:prstGeom prst="round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005380"/>
                </a:solidFill>
                <a:latin typeface="Songti SC"/>
              </a:rPr>
              <a:t>闭合误差平台主要受公开初值与近似周期的小数位数限制。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Group 20"/>
          <p:cNvGrpSpPr/>
          <p:nvPr/>
        </p:nvGrpSpPr>
        <p:grpSpPr>
          <a:xfrm>
            <a:off x="243515" y="114808"/>
            <a:ext cx="12358018" cy="519838"/>
            <a:chOff x="200025" y="1166813"/>
            <a:chExt cx="9268519" cy="389878"/>
          </a:xfrm>
        </p:grpSpPr>
        <p:sp>
          <p:nvSpPr>
            <p:cNvPr id="23" name="文本框 1"/>
            <p:cNvSpPr txBox="1">
              <a:spLocks noChangeArrowheads="1"/>
            </p:cNvSpPr>
            <p:nvPr/>
          </p:nvSpPr>
          <p:spPr bwMode="auto">
            <a:xfrm>
              <a:off x="684213" y="1177868"/>
              <a:ext cx="8784331" cy="34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4"/>
            <p:cNvSpPr>
              <a:spLocks noChangeAspect="1"/>
            </p:cNvSpPr>
            <p:nvPr/>
          </p:nvSpPr>
          <p:spPr bwMode="auto">
            <a:xfrm>
              <a:off x="200025" y="1166813"/>
              <a:ext cx="411535" cy="389878"/>
            </a:xfrm>
            <a:prstGeom prst="rect">
              <a:avLst/>
            </a:prstGeom>
            <a:solidFill>
              <a:srgbClr val="FF99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r>
                <a:rPr sz="1800" b="1">
                  <a:solidFill>
                    <a:srgbClr val="FFFFFF"/>
                  </a:solidFill>
                  <a:latin typeface="Songti SC"/>
                </a:rPr>
                <a:t>4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89099" y="133829"/>
            <a:ext cx="1134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r>
              <a:rPr sz="2600" b="1">
                <a:solidFill>
                  <a:srgbClr val="005380"/>
                </a:solidFill>
                <a:latin typeface="Songti SC"/>
              </a:rPr>
              <a:t>结论：数值证据与结论边界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" y="1234440"/>
            <a:ext cx="5138928" cy="1947672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2000" b="0">
                <a:solidFill>
                  <a:srgbClr val="192D3A"/>
                </a:solidFill>
                <a:latin typeface="Songti SC"/>
              </a:rPr>
              <a:t>基本任务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192D3A"/>
                </a:solidFill>
                <a:latin typeface="Songti SC"/>
              </a:rPr>
              <a:t>单体为抛物线；二体相对轨道为椭圆；三体在 t ≤ 30 内明显分离。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1234440"/>
            <a:ext cx="5102352" cy="1947672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2000" b="0">
                <a:solidFill>
                  <a:srgbClr val="192D3A"/>
                </a:solidFill>
                <a:latin typeface="Songti SC"/>
              </a:rPr>
              <a:t>附加任务</a:t>
            </a:r>
          </a:p>
          <a:p>
            <a:pPr>
              <a:spcAft>
                <a:spcPts val="500"/>
              </a:spcAft>
            </a:pPr>
            <a:r>
              <a:rPr sz="2000" b="0">
                <a:solidFill>
                  <a:srgbClr val="192D3A"/>
                </a:solidFill>
                <a:latin typeface="Songti SC"/>
              </a:rPr>
              <a:t>复现等质量八字轨道；一周期闭合误差约 3.90×10⁻⁸。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" y="3401568"/>
            <a:ext cx="10433304" cy="1444752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900" b="0">
                <a:solidFill>
                  <a:srgbClr val="192D3A"/>
                </a:solidFill>
                <a:latin typeface="Songti SC"/>
              </a:rPr>
              <a:t>验证依据</a:t>
            </a:r>
          </a:p>
          <a:p>
            <a:pPr>
              <a:spcAft>
                <a:spcPts val="500"/>
              </a:spcAft>
            </a:pPr>
            <a:r>
              <a:rPr sz="1900" b="0">
                <a:solidFill>
                  <a:srgbClr val="192D3A"/>
                </a:solidFill>
                <a:latin typeface="Songti SC"/>
              </a:rPr>
              <a:t>解析解、独立 DOP853、守恒量、步长收敛、时间反演、T/3 循环置换。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340096"/>
            <a:ext cx="10561320" cy="658368"/>
          </a:xfrm>
          <a:prstGeom prst="roundRect">
            <a:avLst/>
          </a:prstGeom>
          <a:solidFill>
            <a:srgbClr val="F8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005380"/>
                </a:solidFill>
                <a:latin typeface="Songti SC"/>
              </a:rPr>
              <a:t>有限时长轨迹不构成永久逃逸、混沌或八字轨道稳定性的数学证明。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Group 20"/>
          <p:cNvGrpSpPr/>
          <p:nvPr/>
        </p:nvGrpSpPr>
        <p:grpSpPr>
          <a:xfrm>
            <a:off x="243515" y="114808"/>
            <a:ext cx="12358018" cy="519838"/>
            <a:chOff x="200025" y="1166813"/>
            <a:chExt cx="9268519" cy="389878"/>
          </a:xfrm>
        </p:grpSpPr>
        <p:sp>
          <p:nvSpPr>
            <p:cNvPr id="23" name="文本框 1"/>
            <p:cNvSpPr txBox="1">
              <a:spLocks noChangeArrowheads="1"/>
            </p:cNvSpPr>
            <p:nvPr/>
          </p:nvSpPr>
          <p:spPr bwMode="auto">
            <a:xfrm>
              <a:off x="684213" y="1177868"/>
              <a:ext cx="8784331" cy="346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矩形 4"/>
            <p:cNvSpPr>
              <a:spLocks noChangeAspect="1"/>
            </p:cNvSpPr>
            <p:nvPr/>
          </p:nvSpPr>
          <p:spPr bwMode="auto">
            <a:xfrm>
              <a:off x="200025" y="1166813"/>
              <a:ext cx="411535" cy="389878"/>
            </a:xfrm>
            <a:prstGeom prst="rect">
              <a:avLst/>
            </a:prstGeom>
            <a:solidFill>
              <a:srgbClr val="FF9900"/>
            </a:solidFill>
            <a:ln w="254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r>
                <a:rPr sz="1800" b="1">
                  <a:solidFill>
                    <a:srgbClr val="FFFFFF"/>
                  </a:solidFill>
                  <a:latin typeface="Songti SC"/>
                </a:rPr>
                <a:t>4</a:t>
              </a:r>
            </a:p>
          </p:txBody>
        </p:sp>
      </p:grpSp>
      <p:sp>
        <p:nvSpPr>
          <p:cNvPr id="29" name="矩形 28"/>
          <p:cNvSpPr/>
          <p:nvPr/>
        </p:nvSpPr>
        <p:spPr>
          <a:xfrm>
            <a:off x="0" y="114809"/>
            <a:ext cx="9601067" cy="510909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478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89099" y="133829"/>
            <a:ext cx="1134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r>
              <a:rPr sz="2600" b="1">
                <a:solidFill>
                  <a:srgbClr val="005380"/>
                </a:solidFill>
                <a:latin typeface="Songti SC"/>
              </a:rPr>
              <a:t>参考文献与项目材料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" y="1389888"/>
            <a:ext cx="10277856" cy="2898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92D3A"/>
                </a:solidFill>
                <a:latin typeface="Songti SC"/>
              </a:rPr>
              <a:t>[1] Moore C. Braids in Classical Dynamics. Phys. Rev. Lett. 70 (1993): 3675–3679.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92D3A"/>
                </a:solidFill>
                <a:latin typeface="Songti SC"/>
              </a:rPr>
              <a:t>[2] Chenciner A, Montgomery R. A remarkable periodic solution of the three-body problem. Ann. Math. 152 (2000): 881–901.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92D3A"/>
                </a:solidFill>
                <a:latin typeface="Songti SC"/>
              </a:rPr>
              <a:t>[3] SciPy. DOP853 solver documentation.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92D3A"/>
                </a:solidFill>
                <a:latin typeface="Songti SC"/>
              </a:rPr>
              <a:t>[4] GeometricProblems.jl. Three-body problem example.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590288"/>
            <a:ext cx="10250424" cy="1024128"/>
          </a:xfrm>
          <a:prstGeom prst="round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82296"/>
          <a:lstStyle/>
          <a:p>
            <a:pPr algn="ctr">
              <a:spcAft>
                <a:spcPts val="500"/>
              </a:spcAft>
            </a:pPr>
            <a:r>
              <a:rPr sz="1700" b="0">
                <a:solidFill>
                  <a:srgbClr val="005380"/>
                </a:solidFill>
                <a:latin typeface="Songti SC"/>
              </a:rPr>
              <a:t>项目仓库（私有）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005380"/>
                </a:solidFill>
                <a:latin typeface="Songti SC"/>
              </a:rPr>
              <a:t>github.com/zhangzhiyang2006/three-body-numerical-study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005380"/>
                </a:solidFill>
                <a:latin typeface="Songti SC"/>
              </a:rPr>
              <a:t>含完整报告、Julia 程序、参考数据与验证测试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8442" y="1200579"/>
            <a:ext cx="12153558" cy="3168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miter lim="800000"/>
          </a:ln>
        </p:spPr>
        <p:txBody>
          <a:bodyPr anchor="ctr"/>
          <a:lstStyle/>
          <a:p>
            <a:pPr algn="ctr"/>
            <a:r>
              <a:rPr sz="5400" b="1">
                <a:solidFill>
                  <a:srgbClr val="005380"/>
                </a:solidFill>
                <a:latin typeface="Songti SC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WPS 文字</Application>
  <PresentationFormat/>
  <Paragraphs>46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汉仪旗黑</vt:lpstr>
      <vt:lpstr>等线</vt:lpstr>
      <vt:lpstr>Calibri</vt:lpstr>
      <vt:lpstr>Times New Roman</vt:lpstr>
      <vt:lpstr>汉仪书宋二KW</vt:lpstr>
      <vt:lpstr>汉仪中等线KW</vt:lpstr>
      <vt:lpstr>Helvetica Neue</vt:lpstr>
      <vt:lpstr>宋体</vt:lpstr>
      <vt:lpstr>Arial Unicode MS</vt:lpstr>
      <vt:lpstr>等线 Light</vt:lpstr>
      <vt:lpstr>Calibri Light</vt:lpstr>
      <vt:lpstr>微软雅黑</vt:lpstr>
      <vt:lpstr>等线</vt:lpstr>
      <vt:lpstr>Office 主题​​</vt:lpstr>
      <vt:lpstr>1_自定义设计方案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2026-07-23T14:01:43Z</dcterms:created>
  <dcterms:modified xsi:type="dcterms:W3CDTF">2026-07-23T14:01:43Z</dcterms:modified>
  <cp:keywords/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00BE3B301D2CC558C61E626A6F7C1683_43</vt:lpwstr>
  </property>
  <property fmtid="{D5CDD505-2E9C-101B-9397-08002B2CF9AE}" pid="3" name="KSOProductBuildVer">
    <vt:lpwstr>2052-12.9.0.20513</vt:lpwstr>
  </property>
</Properties>
</file>